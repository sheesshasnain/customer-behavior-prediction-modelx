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Showcard Gothic" panose="04020904020102020604" pitchFamily="82" charset="0"/>
      <p:regular r:id="rId11"/>
    </p:embeddedFont>
    <p:embeddedFont>
      <p:font typeface="Sora Light" panose="020B0604020202020204" charset="0"/>
      <p:regular r:id="rId12"/>
    </p:embeddedFont>
    <p:embeddedFont>
      <p:font typeface="Sora Semi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66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128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180630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Showcard Gothic" panose="04020904020102020604" pitchFamily="82" charset="0"/>
                <a:ea typeface="Sora Semi Bold" pitchFamily="34" charset="-122"/>
                <a:cs typeface="Sora Semi Bold" pitchFamily="34" charset="-120"/>
              </a:rPr>
              <a:t>Predictive Modeling for Customer Behavior</a:t>
            </a:r>
            <a:endParaRPr lang="en-US" sz="4450" b="1" dirty="0">
              <a:latin typeface="Showcard Gothic" panose="04020904020102020604" pitchFamily="8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8309" y="393096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presentation outlines a predictive modeling approach.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452139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 helps businesses understand customer churn and loyalty.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309" y="511182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Our goal is to predict customer retention, churn, or prospect status.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309" y="570226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 use shopping habits and background data to achieve this.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68805"/>
            <a:ext cx="978479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Dataset Description and Creation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1230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Dataset Origin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695819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 created a self-made dataset.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23743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 includes customer details like age, purchases, and feedback.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125760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Market trends are also incorporated.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12926" y="31230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Feature Details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12926" y="3695819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dataset has over 35 columns.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12926" y="423743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Features include demographics and purchase history.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12926" y="5125760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Economic indicators are also present.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67543" y="31230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Target Variable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7543" y="3695819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"target" column classifies customers.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67543" y="458414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Categories are Retained, Churned, or Prospective.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67543" y="5472470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was manually curated for realism.</a:t>
            </a:r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E51E2F-E9E8-130A-8652-0948FB0C0D84}"/>
              </a:ext>
            </a:extLst>
          </p:cNvPr>
          <p:cNvSpPr/>
          <p:nvPr/>
        </p:nvSpPr>
        <p:spPr>
          <a:xfrm>
            <a:off x="12718256" y="7571873"/>
            <a:ext cx="1783807" cy="5454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77347"/>
            <a:ext cx="6183868" cy="60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Key Preprocessing Steps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651278"/>
            <a:ext cx="920710" cy="1104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63090" y="1835348"/>
            <a:ext cx="2423160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Missing Values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863090" y="2248614"/>
            <a:ext cx="1200900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Numeric data filled with mean values.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2756178"/>
            <a:ext cx="920710" cy="1104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63090" y="2940248"/>
            <a:ext cx="2423160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Noise Removal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863090" y="3353514"/>
            <a:ext cx="1200900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Duplicates removed and custom reduction applied.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3861078"/>
            <a:ext cx="920710" cy="1104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63090" y="4045148"/>
            <a:ext cx="2423160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Normalization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863090" y="4458414"/>
            <a:ext cx="1200900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MinMaxScaler used for numeric features.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4965978"/>
            <a:ext cx="920710" cy="1104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63090" y="5150048"/>
            <a:ext cx="2423160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Encoding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1863090" y="5563314"/>
            <a:ext cx="1200900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Categorical variables label-encoded.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09" y="6070878"/>
            <a:ext cx="920710" cy="14812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63090" y="6254948"/>
            <a:ext cx="2492812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1863090" y="6668214"/>
            <a:ext cx="1200900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Added sum and mean features.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863090" y="7073384"/>
            <a:ext cx="1200900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PCA used for dimensionality reduction.</a:t>
            </a:r>
            <a:endParaRPr lang="en-US" sz="14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0F96CA-12ED-86D3-9E61-F7A5AC67B9F6}"/>
              </a:ext>
            </a:extLst>
          </p:cNvPr>
          <p:cNvSpPr/>
          <p:nvPr/>
        </p:nvSpPr>
        <p:spPr>
          <a:xfrm>
            <a:off x="12718256" y="7571873"/>
            <a:ext cx="1783807" cy="5454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73179"/>
            <a:ext cx="7627382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Model Selection and Evaluation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6244709" y="2335887"/>
            <a:ext cx="463034" cy="463034"/>
          </a:xfrm>
          <a:prstGeom prst="roundRect">
            <a:avLst>
              <a:gd name="adj" fmla="val 1867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13706" y="2364224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6913483" y="2406610"/>
            <a:ext cx="2751177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Logistic Regression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913483" y="2868573"/>
            <a:ext cx="695860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Interpretable as a baseline model.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13483" y="3321368"/>
            <a:ext cx="695860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Offers clear insights into feature impact.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44709" y="4062293"/>
            <a:ext cx="463034" cy="463034"/>
          </a:xfrm>
          <a:prstGeom prst="roundRect">
            <a:avLst>
              <a:gd name="adj" fmla="val 1867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13706" y="4090630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6913483" y="4133017"/>
            <a:ext cx="347650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Random Forest Classifier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913483" y="4594979"/>
            <a:ext cx="695860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Handles complex patterns effectively.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13483" y="5047774"/>
            <a:ext cx="695860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Combines multiple decision trees for accuracy.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44709" y="5788700"/>
            <a:ext cx="463034" cy="463034"/>
          </a:xfrm>
          <a:prstGeom prst="roundRect">
            <a:avLst>
              <a:gd name="adj" fmla="val 1867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13706" y="5817037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6913483" y="5859423"/>
            <a:ext cx="270819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Evaluation Metrics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913483" y="6321385"/>
            <a:ext cx="695860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Accuracy, Precision, Recall, F1 Score were used.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13483" y="6774180"/>
            <a:ext cx="695860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Confusion Matrix provides detailed insights.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13483" y="7226975"/>
            <a:ext cx="695860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5-fold Cross-Validation ensures robustness.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1DDF45-BAF1-D623-052D-BB00D7CC5886}"/>
              </a:ext>
            </a:extLst>
          </p:cNvPr>
          <p:cNvSpPr/>
          <p:nvPr/>
        </p:nvSpPr>
        <p:spPr>
          <a:xfrm>
            <a:off x="12718256" y="7571873"/>
            <a:ext cx="1783807" cy="5454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20654"/>
            <a:ext cx="1021461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Model Results: Logistic Regression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566630"/>
            <a:ext cx="13113782" cy="1880473"/>
          </a:xfrm>
          <a:prstGeom prst="roundRect">
            <a:avLst>
              <a:gd name="adj" fmla="val 483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29" y="2574250"/>
            <a:ext cx="13098542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82742" y="2711768"/>
            <a:ext cx="28376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Actual Retained (0)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61128" y="2711768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241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35704" y="2711768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18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810280" y="2711768"/>
            <a:ext cx="28376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57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5929" y="3195995"/>
            <a:ext cx="13098542" cy="621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82742" y="3333512"/>
            <a:ext cx="28376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Actual Churned (1)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61128" y="3333512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38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35704" y="3333512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810280" y="3333512"/>
            <a:ext cx="28376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82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5929" y="3817739"/>
            <a:ext cx="13098542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2742" y="3955256"/>
            <a:ext cx="28376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Actual Prospective (2)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61128" y="3955256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35704" y="3955256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810280" y="3955256"/>
            <a:ext cx="28376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389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8309" y="469082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Logistic Regression shows high predictive power.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58309" y="528125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 identifies 241 true negatives for retained customers.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58309" y="587168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Strong recall is observed for prospective customers (389).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8309" y="646211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Overall, balanced performance across classes is evident.</a:t>
            </a:r>
            <a:endParaRPr lang="en-US" sz="17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BEFEF1-7C97-DE67-C1B4-7BCC86268517}"/>
              </a:ext>
            </a:extLst>
          </p:cNvPr>
          <p:cNvSpPr/>
          <p:nvPr/>
        </p:nvSpPr>
        <p:spPr>
          <a:xfrm>
            <a:off x="12718256" y="7571873"/>
            <a:ext cx="1783807" cy="5454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093" y="585430"/>
            <a:ext cx="6088856" cy="490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Model Results: Random Forest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93" y="1373624"/>
            <a:ext cx="9198054" cy="470368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85805" y="6077307"/>
            <a:ext cx="148947" cy="148947"/>
          </a:xfrm>
          <a:prstGeom prst="roundRect">
            <a:avLst>
              <a:gd name="adj" fmla="val 12278"/>
            </a:avLst>
          </a:prstGeom>
          <a:solidFill>
            <a:srgbClr val="44080E"/>
          </a:solidFill>
          <a:ln/>
        </p:spPr>
      </p:sp>
      <p:sp>
        <p:nvSpPr>
          <p:cNvPr id="5" name="Text 2"/>
          <p:cNvSpPr/>
          <p:nvPr/>
        </p:nvSpPr>
        <p:spPr>
          <a:xfrm>
            <a:off x="3795713" y="6077307"/>
            <a:ext cx="1472208" cy="148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20320" y="6077307"/>
            <a:ext cx="148947" cy="148947"/>
          </a:xfrm>
          <a:prstGeom prst="roundRect">
            <a:avLst>
              <a:gd name="adj" fmla="val 12278"/>
            </a:avLst>
          </a:prstGeom>
          <a:solidFill>
            <a:srgbClr val="B61626"/>
          </a:solidFill>
          <a:ln/>
        </p:spPr>
      </p:sp>
      <p:sp>
        <p:nvSpPr>
          <p:cNvPr id="7" name="Text 4"/>
          <p:cNvSpPr/>
          <p:nvPr/>
        </p:nvSpPr>
        <p:spPr>
          <a:xfrm>
            <a:off x="5630228" y="6077307"/>
            <a:ext cx="1133951" cy="148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45093" y="6692146"/>
            <a:ext cx="13140214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Random Forest achieves slightly better accuracy (248 true negatives).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5093" y="7098268"/>
            <a:ext cx="13140214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 shows improved precision and recall, especially for the churned class (34).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5093" y="7504390"/>
            <a:ext cx="13140214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model demonstrates superior pattern recognition capabilities.</a:t>
            </a:r>
            <a:endParaRPr lang="en-US" sz="11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BEDCF-E6FE-4656-27DE-2BDFB33CB577}"/>
              </a:ext>
            </a:extLst>
          </p:cNvPr>
          <p:cNvSpPr/>
          <p:nvPr/>
        </p:nvSpPr>
        <p:spPr>
          <a:xfrm>
            <a:off x="12718256" y="7571873"/>
            <a:ext cx="1783807" cy="5454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359468"/>
            <a:ext cx="1096708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Final Insights and Feature Importance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4397097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70673" y="4525685"/>
            <a:ext cx="226302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Top Features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70673" y="5011817"/>
            <a:ext cx="226302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Q2 Positive Feedback Count (0.14) is key.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570673" y="6181844"/>
            <a:ext cx="226302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Q1 Satisfaction Score (0.12) also drives predictions.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4442" y="4397097"/>
            <a:ext cx="541615" cy="5416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16805" y="4525685"/>
            <a:ext cx="226302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Unexpected Finding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4916805" y="5368052"/>
            <a:ext cx="226302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Market Volatility showed minimal impact.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4916805" y="6538079"/>
            <a:ext cx="226302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was surprising given economic context.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0574" y="4397097"/>
            <a:ext cx="541615" cy="5416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62938" y="4525685"/>
            <a:ext cx="226302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Model Comparison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262938" y="5368052"/>
            <a:ext cx="226302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Random Forest outperforms Logistic Regression.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8262938" y="6538079"/>
            <a:ext cx="226302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 excels in complex, nuanced scenarios.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6707" y="4397097"/>
            <a:ext cx="541615" cy="54161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609070" y="4525685"/>
            <a:ext cx="226302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Business Impact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11609070" y="5368052"/>
            <a:ext cx="226302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Focus on feedback and satisfaction scores.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11609070" y="6538079"/>
            <a:ext cx="226302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can reduce churn and attract new prospects.</a:t>
            </a:r>
            <a:endParaRPr lang="en-US" sz="17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BE0105-44B1-1DD3-DE22-AD446A8BB43E}"/>
              </a:ext>
            </a:extLst>
          </p:cNvPr>
          <p:cNvSpPr/>
          <p:nvPr/>
        </p:nvSpPr>
        <p:spPr>
          <a:xfrm>
            <a:off x="12718256" y="7571873"/>
            <a:ext cx="1783807" cy="5454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00088"/>
            <a:ext cx="5375553" cy="46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Conclusion and Future Work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58309" y="1444943"/>
            <a:ext cx="140732" cy="1132403"/>
          </a:xfrm>
          <a:prstGeom prst="roundRect">
            <a:avLst>
              <a:gd name="adj" fmla="val 4202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9773" y="1585674"/>
            <a:ext cx="207442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Successful Prediction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039773" y="1901666"/>
            <a:ext cx="12832318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Models successfully predict customer behavior.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39773" y="2211348"/>
            <a:ext cx="12832318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aids effective customer retention strategies.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9526" y="2682954"/>
            <a:ext cx="140732" cy="1132403"/>
          </a:xfrm>
          <a:prstGeom prst="roundRect">
            <a:avLst>
              <a:gd name="adj" fmla="val 4202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0990" y="2823686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Real-time Data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50990" y="3139678"/>
            <a:ext cx="126211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Incorporate real-time data for dynamic predictions.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50990" y="3449360"/>
            <a:ext cx="12621101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enhances responsiveness to changes.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0743" y="3920966"/>
            <a:ext cx="140732" cy="1132403"/>
          </a:xfrm>
          <a:prstGeom prst="roundRect">
            <a:avLst>
              <a:gd name="adj" fmla="val 4202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2207" y="4061698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Deep Learning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2207" y="4377690"/>
            <a:ext cx="1240988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Explore deep learning for enhanced accuracy.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2207" y="4687372"/>
            <a:ext cx="1240988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can capture more intricate patterns.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91960" y="5158978"/>
            <a:ext cx="140732" cy="1132403"/>
          </a:xfrm>
          <a:prstGeom prst="roundRect">
            <a:avLst>
              <a:gd name="adj" fmla="val 4202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73423" y="5299710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Sentiment Analysis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673423" y="5615702"/>
            <a:ext cx="12198668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Add customer sentiment analysis from text feedback.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73423" y="5925383"/>
            <a:ext cx="12198668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provides qualitative insights.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80743" y="6396990"/>
            <a:ext cx="140732" cy="1132403"/>
          </a:xfrm>
          <a:prstGeom prst="roundRect">
            <a:avLst>
              <a:gd name="adj" fmla="val 4202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2207" y="6537722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462207" y="6853714"/>
            <a:ext cx="1240988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Deploy model with business feedback loop.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2207" y="7163395"/>
            <a:ext cx="1240988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enables continuous improvement.</a:t>
            </a:r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783CAE-651B-3CB6-914F-536E6F854941}"/>
              </a:ext>
            </a:extLst>
          </p:cNvPr>
          <p:cNvSpPr/>
          <p:nvPr/>
        </p:nvSpPr>
        <p:spPr>
          <a:xfrm>
            <a:off x="12718256" y="7571873"/>
            <a:ext cx="1783807" cy="5454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502</Words>
  <Application>Microsoft Office PowerPoint</Application>
  <PresentationFormat>Custom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Showcard Gothic</vt:lpstr>
      <vt:lpstr>Arial</vt:lpstr>
      <vt:lpstr>Sora Light</vt:lpstr>
      <vt:lpstr>Sora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L1S21BSCS0105 - FAHEEM KHAN</cp:lastModifiedBy>
  <cp:revision>2</cp:revision>
  <dcterms:created xsi:type="dcterms:W3CDTF">2025-06-17T17:45:18Z</dcterms:created>
  <dcterms:modified xsi:type="dcterms:W3CDTF">2025-06-17T17:47:27Z</dcterms:modified>
</cp:coreProperties>
</file>